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100"/>
    <a:srgbClr val="C0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81637"/>
  </p:normalViewPr>
  <p:slideViewPr>
    <p:cSldViewPr snapToGrid="0" snapToObjects="1">
      <p:cViewPr varScale="1">
        <p:scale>
          <a:sx n="172" d="100"/>
          <a:sy n="172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05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Aprire con la domanda narrativa: se potessimo ascoltare un decennio in pochi secondi, come suonerebbe? Il titolo rimanda sia alla forma visiva dei grafici — line plot, parallel coordinates — che al profilo sonoro di ogni epoca. Il dataset Kaggle di Yamac Eren Ay e tra i rari con 100 anni di copertura e feature audio normalizzate dall'API Spotify.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 alla criticità del Nested Model (Munzner). WHY = perché visualizzare → gli obiettivi analitici. WHAT = cosa visualizzare → tipo di attributi nei dati. HOW = come visualizzare → la scelta dell'idiom visivo. Ogni livello ha le sue minacce alla validità: spiegare brevemente.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tabella Tab.1 (da mostrare in backup) applica Few: solo le misure necessarie, niente decorazione. La colonna null_% è evidenziata solo dove &gt; 0 (ombreggiatura come segnale, non come ornamento). Il grafico mostra la distribuzione dei macro-generi estratti da artists.csv: citare la presenza di 'Other' e motivarla.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Sezione di transizione. La domanda aperta crea attesa: lasciarla sospesa un secondo prima di far vedere il grafico.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perché si vede immediatamente l'arancione senza leggere la legenda: questo è l'attributo pre-attentivo di Ware. La legenda esterna è stata eliminata perché aggiunge carico cognitivo (working memory). NOTA CRITICA: in una versione migliorata (30L) si aggiungerebbe una fascia fill_between che mostra la varianza attorno alla media — l'assenza di intervalli di confidenza è una limitazione dichiarata.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heatmap complementa il line plot: là vediamo la forma del trend, qui i valori precisi per decade. La scala RdBu_r è stata scelta al posto di RdYlGn (originale) perché RdYlGn non è distinguibile per i daltonici rosso-verdi (~8% degli uomini). Il valore numerico in ogni cella risponde al principio di ridondanza percettiva di Ware: il colore da solo non basta, il numero è il failsafe.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da risolvere: se metto tutte le linee in un unico plot ottengo effetto spaghetti. La soluzione è la griglia Tufte.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Tufte: stessa scala (sharey=True), stesso frame visivo per ogni pannello. L'occhio confronta le FORME, non le scale. I generi sono ordinati per numerosità campionaria (più frequente a sinistra) come prescrive Bertin: i dati nominali senza ordine intrinseco vanno ordinati per una metrica derivata dai dati stessi. Classical mantiene acousticness alta e stabile → musica acustica per definizione. Electronic crolla → transizione tecnologica visibile.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versione estesa 4×5 permette di vedere tutti i pattern insieme. sharey='row' significa che la scala di danceability è la stessa per tutti i generi NELLA STESSA RIGA — le differenze visibili sono differenze reali nei dati. Nota: Hip-Hop mostra la danceability in crescita costante dopo il 1990 — questo emerge immediatamente dalla forma del pannello, non serve testo.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trova i cluster SENZA etichette di genere. Poi confrontiamo con i generi reali.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scelta di k non è arbitraria: è giustificata da due metriche indipendenti. Il Silhouette Score misura quanto un punto è simile al suo cluster rispetto agli altri. Il k evidenziato in arancione bruciato è immediatamente identificabile senza leggere i valori numerici (Ware: pre-attentività).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linea spessa è un cluster = un archetipo sonoro. Le linee sottili in background mostrano la densità reale dei dati. Il nome di ogni cluster (es. 'acustico-calmo') è stato assegnato a posteriori leggendo il profilo Z-score — l'algoritmo non conosceva le etichette. NOTA CRITICA: un Parallel Coordinates Plot statico su dati ad alta densità è un anti-pattern (Shneiderman) senza brushing interattivo. Per il 30L si implementerebbe in Plotly con filtering dinamico.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domanda più narrativamente forte del progetto. Spoiler: non è solo la danceability.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sarebbe più accurato, ma un Decision Tree singolo è l'unico modello che si può VISUALIZZARE — requisito del modulo Soto. Leggere l'albero in live: 'Prima domanda: energy &gt; X? Sì → vai a destra, la canzone ha più probabilità di essere una hit.' Seguire il path più interessante per la narrativa. MIGLIORAMENTO POSSIBILE: mappare lo spessore dei rami proporzionalmente al numero di sample che li attraversano (Soto: visual variable thickness).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Compilare i valori della tabella dopo aver eseguito il notebook. Il punto chiave: quale feature emerge come split principale alla radice? Questo risponde alla domanda di ricerca 'formula del successo'. La Confusion Matrix mostra onestamente il trade-off: class_weight='balanced' aiuta ma non risolve lo sbilanciamento hit/non-hit.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Rispondere a ciascuna domanda con i valori REALI dal notebook. Collegare le risposte: acousticness cala (M2) → questo separa i cluster (M4) → l'energy alta predice le hit (M5). Il filo narrativo è una storia unica, non tre analisi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Dichiarare i limiti prima che la commissione li sollevi: è un segnale di rigore metodologico, non di debolezza.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2745" y="2030562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C0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r>
              <a:rPr lang="en-US" sz="8000" b="1" dirty="0">
                <a:solidFill>
                  <a:srgbClr val="3C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</a:p>
          <a:p>
            <a:pPr marL="0" indent="0" algn="r">
              <a:buNone/>
            </a:pPr>
            <a:r>
              <a:rPr lang="en-US" sz="8000" b="1" dirty="0">
                <a:solidFill>
                  <a:srgbClr val="BD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r>
              <a:rPr lang="en-US" sz="8000" b="1" dirty="0">
                <a:solidFill>
                  <a:srgbClr val="3C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88471" y="1026154"/>
            <a:ext cx="6515249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4800" b="1" dirty="0">
                <a:solidFill>
                  <a:srgbClr val="FAFAF8"/>
                </a:solidFill>
                <a:latin typeface="Aptos Display" panose="020B0004020202020204" pitchFamily="34" charset="0"/>
                <a:ea typeface="Apple Color Emoji" pitchFamily="2" charset="0"/>
              </a:rPr>
              <a:t>La Trasformazione </a:t>
            </a:r>
          </a:p>
          <a:p>
            <a:r>
              <a:rPr lang="it-IT" sz="4800" b="1" dirty="0">
                <a:solidFill>
                  <a:srgbClr val="FAFAF8"/>
                </a:solidFill>
                <a:latin typeface="Aptos Display" panose="020B0004020202020204" pitchFamily="34" charset="0"/>
                <a:ea typeface="Apple Color Emoji" pitchFamily="2" charset="0"/>
              </a:rPr>
              <a:t>del </a:t>
            </a:r>
            <a:r>
              <a:rPr lang="it-IT" sz="4800" b="1" dirty="0">
                <a:solidFill>
                  <a:srgbClr val="C05200"/>
                </a:solidFill>
                <a:latin typeface="Aptos Display" panose="020B0004020202020204" pitchFamily="34" charset="0"/>
                <a:ea typeface="Apple Color Emoji" pitchFamily="2" charset="0"/>
              </a:rPr>
              <a:t>Suono</a:t>
            </a:r>
          </a:p>
          <a:p>
            <a:r>
              <a:rPr lang="it-IT" sz="4800" b="1" dirty="0">
                <a:solidFill>
                  <a:srgbClr val="FAFAF8"/>
                </a:solidFill>
                <a:latin typeface="Aptos Display" panose="020B0004020202020204" pitchFamily="34" charset="0"/>
                <a:ea typeface="Apple Color Emoji" pitchFamily="2" charset="0"/>
              </a:rPr>
              <a:t>in un </a:t>
            </a:r>
            <a:r>
              <a:rPr lang="it-IT" sz="4800" b="1" dirty="0">
                <a:solidFill>
                  <a:srgbClr val="C05200"/>
                </a:solidFill>
                <a:latin typeface="Aptos Display" panose="020B0004020202020204" pitchFamily="34" charset="0"/>
                <a:ea typeface="Apple Color Emoji" pitchFamily="2" charset="0"/>
              </a:rPr>
              <a:t>Secolo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02920" y="3018114"/>
            <a:ext cx="2286000" cy="36576"/>
          </a:xfrm>
          <a:prstGeom prst="rect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9256" y="3266741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1400" dirty="0">
                <a:solidFill>
                  <a:srgbClr val="D3D1C7"/>
                </a:solidFill>
                <a:latin typeface="Calibri" pitchFamily="34" charset="0"/>
                <a:cs typeface="Calibri" pitchFamily="34" charset="-120"/>
              </a:rPr>
              <a:t>Viaggio analitico nelle feature audio del Dataset Spotify</a:t>
            </a:r>
          </a:p>
        </p:txBody>
      </p:sp>
      <p:sp>
        <p:nvSpPr>
          <p:cNvPr id="7" name="Text 5"/>
          <p:cNvSpPr/>
          <p:nvPr/>
        </p:nvSpPr>
        <p:spPr>
          <a:xfrm>
            <a:off x="413280" y="461203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Arcadia Cipolla M.66969A – Daniele Intra M.53665A   -  A.A. 2025/26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Abstraction: perché questa analisi?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8869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Munzner (2014) · Nested Model of Visualization Design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analitici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trend temporali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generi musicali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hit → feature audio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474720" y="1325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755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dati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quantitative (10 feature audio)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categorici (generi)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ad albero (DT)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1887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0" y="13258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38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7556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 visivo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marks + Small Multiples (M2, M3)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Coordinates (M4)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Node-link diagram (M5)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Dataset: 586.000 brani, cent'anni di musica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566160" cy="987552"/>
          </a:xfrm>
          <a:prstGeom prst="roundRect">
            <a:avLst>
              <a:gd name="adj" fmla="val 7407"/>
            </a:avLst>
          </a:prstGeom>
          <a:solidFill>
            <a:srgbClr val="FAFAF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586k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011680" y="1280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brani nel dataset pulito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267712"/>
            <a:ext cx="3566160" cy="987552"/>
          </a:xfrm>
          <a:prstGeom prst="roundRect">
            <a:avLst>
              <a:gd name="adj" fmla="val 7407"/>
            </a:avLst>
          </a:prstGeom>
          <a:solidFill>
            <a:srgbClr val="FAFAF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011680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(1921–2020)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438144"/>
            <a:ext cx="3566160" cy="987552"/>
          </a:xfrm>
          <a:prstGeom prst="roundRect">
            <a:avLst>
              <a:gd name="adj" fmla="val 7407"/>
            </a:avLst>
          </a:prstGeom>
          <a:solidFill>
            <a:srgbClr val="FAFAF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audio per brano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1051560"/>
            <a:ext cx="4572000" cy="3520440"/>
          </a:xfrm>
          <a:prstGeom prst="roundRect">
            <a:avLst>
              <a:gd name="adj" fmla="val 2078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251960" y="25831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m1_genre_distribution.png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Few · Table Design: numeri allineati a destra, niente griglie interne · Lie Factor =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suona ogni decennio?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 Ware · Pre-attentive Attributes  ·  Gestalt: Legge della Buona Continuazione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Acousticness in calo costante da 100 anni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−62% acousticness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1921 al 2020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Arancione bruciato = acousticness (feature chiave), grigio = tutte le altre → pre-attenzione (Ware)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mobile 5 anni: riduce il rumore annuale senza mascherare i trend decennali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1954–1972: accelerazione del calo nell'era rock elettrico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069080" y="25831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m2_temporal_evolution.png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Ware: un solo colore saturo (HIGHLIGHT) per la feature chiave · etichettatura diretta · asse Y da 0 (Lie Factor = 0)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profilo sonoro di ogni decade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429000"/>
          </a:xfrm>
          <a:prstGeom prst="roundRect">
            <a:avLst>
              <a:gd name="adj" fmla="val 21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25374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m2_decade_heatmap.png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RdBu_r: divergente, colorblind-safe (Ware) · verde → blu = basso, rosso = alto · valori numerici sopra ogni cella (ridondanza percettiva)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generi si comportano tutti allo stesso modo?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Tufte · Small Multiples  ·  Gestalt: Similarità e Prossimità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e Electronic: due traiettorie opposte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429000"/>
          </a:xfrm>
          <a:prstGeom prst="roundRect">
            <a:avLst>
              <a:gd name="adj" fmla="val 21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25374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m3_small_multiples_acousticness.png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sharey=True: stessa scala per tutti i pannelli → Lie Factor = 0 · generi ordinati per numerosità del campione · etichetta interna al pannello (Tufte)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pannelli, zero effetto spaghetti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429000"/>
          </a:xfrm>
          <a:prstGeom prst="roundRect">
            <a:avLst>
              <a:gd name="adj" fmla="val 21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25374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m3_small_multiples_full.png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sharey='row': scala condivisa per feature · sharex=True · asse Y ancorato a [0, 1] = range completo delle feature Spotify normalizzate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Esistono archetipi sonori naturali?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Parallel Coordinates · ColorBrewer Set2 colorblind-safe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Selezionare il numero di cluster: Elbow + Silhouette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429000"/>
          </a:xfrm>
          <a:prstGeom prst="roundRect">
            <a:avLst>
              <a:gd name="adj" fmla="val 21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25374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m4_cluster_diagnostics.png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(inertia) + Silhouette Score → k ottimale evidenziato in arancione (pre-attentivo) · nessuna scelta arbitraria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 archetipi sonori: ogni cluster è un profilo unico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429000"/>
          </a:xfrm>
          <a:prstGeom prst="roundRect">
            <a:avLst>
              <a:gd name="adj" fmla="val 21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25374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m4_parallel_coordinates.png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ColorBrewer Set2: palette qualitativa colorblind-safe · linee sfondo = singoli brani (alpha 0.09) · linee spesse = centroidi cluster · etichettatura diretta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rende un brano una hit?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Soto · Hierarchical Visualization  ·  target: popularity ≥ 60 (~35% dei brani)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Decision Tree risponde: 4 domande per classificare una hit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3429000"/>
          </a:xfrm>
          <a:prstGeom prst="roundRect">
            <a:avLst>
              <a:gd name="adj" fmla="val 213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25374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m5_decision_tree.png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max_depth=4 · nodi colorati per purezza della classe (arancione=non-hit, blu=hit) · testo ridotto a condizione, gini e samples · legenda scala colore a destra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· Confronto modelli · Confusion Matrix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3474720" cy="1280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A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44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4B2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notebook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24688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AEEDA"/>
          </a:solidFill>
          <a:ln w="635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2523744"/>
            <a:ext cx="3200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dichiarato: DT è meno accurato di RF ma completamente visualizzabile (Soto). L'accuracy di RF è riportata come riferimento quantitativo.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60520" y="1051560"/>
            <a:ext cx="4617720" cy="2560320"/>
          </a:xfrm>
          <a:prstGeom prst="roundRect">
            <a:avLst>
              <a:gd name="adj" fmla="val 28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160520" y="21031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m5_dt_diagnostics.png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inserire output notebook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arancione = feature sopra il 65° percentile · Confusion Matrix: palette YlOrBr coerente con il progetto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domande, tre risposte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è cambiato il suono?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35608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 −62% in 100 anni. La curva di cambiamento si accelera nel 1954–1972.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502920" cy="502920"/>
          </a:xfrm>
          <a:prstGeom prst="ellipse">
            <a:avLst/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Esistono archetipi sonori?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70048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Sì: k cluster distinti emergono dal K-Means senza etichette di genere. Il profilo Z-score li rende leggibili.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611880"/>
            <a:ext cx="502920" cy="502920"/>
          </a:xfrm>
          <a:prstGeom prst="ellipse">
            <a:avLst/>
          </a:prstGeom>
          <a:solidFill>
            <a:srgbClr val="BF5200"/>
          </a:solidFill>
          <a:ln w="12700">
            <a:solidFill>
              <a:srgbClr val="BF52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52044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5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rende un brano una hit?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904488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feature [da compilare dopo notebook] compaiono ai primi livelli dell'albero. Popularity ≥ 60 è predittibile con F1-macro = [valore].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dichiarati &amp; sviluppi futuri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CF0F0"/>
          </a:solidFill>
          <a:ln w="6350">
            <a:solidFill>
              <a:srgbClr val="A32D2D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76072" y="1179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Interattività (Shneiderman)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" y="1527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Parallel Coordinates Plot statico è un anti-pattern su dati densi. → Plotly con brushing sulle feature per il 30L.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4069080" cy="1554480"/>
          </a:xfrm>
          <a:prstGeom prst="roundRect">
            <a:avLst>
              <a:gd name="adj" fmla="val 4706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873752" y="11795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Varianza nascosta (rigore scientifico)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873752" y="1527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mobile non </a:t>
            </a: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mostrava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dispersione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abbiamo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utilizzato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fill_between per </a:t>
            </a:r>
            <a:r>
              <a:rPr lang="en-US" sz="1100" dirty="0" err="1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l’intervallo</a:t>
            </a: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confidenza al 95%.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964366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76072" y="3099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 derivati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344728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colonna 'genre' è un mapping euristico da artists.csv — contiene rumore. → join più sofisticato o classificatore dedicato.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97180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873752" y="3099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Popolarità ≠ successo storico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344728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'popularity' misura il successo su Spotify OGGI, non al momento della pubblicazione.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2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Riferimenti teorici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Tufte, E. (1983). The Visual Display of Quantitative Information. Graphics Press.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S. (2004). Show Me the Numbers. Analytics Press.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Ware, C. (2004). Information Visualization: Perception for Design. Morgan Kaufmann.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Munzner, T. (2014). Visualization Analysis and Design. A K Peters/CRC Press.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Shneiderman, B. (1996). The Eyes Have It: A Task by Data Type Taxonomy. IEEE VL.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Brewer, C.A. et al. (2003). ColorBrewer: An Online Tool for Selecting Color Schemes. The Cartographic Journal.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Eren Ay, Y. (2021). Spotify Dataset 1921–2020, 600k+ Tracks. Kaggle.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1957</Words>
  <Application>Microsoft Macintosh PowerPoint</Application>
  <PresentationFormat>Presentazione su schermo (16:9)</PresentationFormat>
  <Paragraphs>167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Aptos Display</vt:lpstr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Shape of Music</dc:title>
  <dc:subject>Spotify Dataset 1921-2020 · Feature Audio Analysis</dc:subject>
  <dc:creator>Corso di Visualizzazione Scientifica</dc:creator>
  <cp:lastModifiedBy>Daniele Intra</cp:lastModifiedBy>
  <cp:revision>3</cp:revision>
  <dcterms:created xsi:type="dcterms:W3CDTF">2026-06-21T14:51:54Z</dcterms:created>
  <dcterms:modified xsi:type="dcterms:W3CDTF">2026-06-22T18:38:18Z</dcterms:modified>
</cp:coreProperties>
</file>