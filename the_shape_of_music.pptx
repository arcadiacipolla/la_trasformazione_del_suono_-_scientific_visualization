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Aprire con la domanda narrativa: se potessimo ascoltare un decennio in pochi secondi, come suonerebbe? Il titolo rimanda sia alla forma visiva dei grafici — line plot, parallel coordinates — che al profilo sonoro di ogni epoca. Il dataset Kaggle di Yamac Eren Ay e tra i rari con 100 anni di copertura e feature audio normalizzate dall'API Spotify.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Risponde alla criticità del Nested Model (Munzner). WHY = perché visualizzare → gli obiettivi analitici. WHAT = cosa visualizzare → tipo di attributi nei dati. HOW = come visualizzare → la scelta dell'idiom visivo. Ogni livello ha le sue minacce alla validità: spiegare brevemente.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tabella Tab.1 (da mostrare in backup) applica Few: solo le misure necessarie, niente decorazione. La colonna null_% è evidenziata solo dove &gt; 0 (ombreggiatura come segnale, non come ornamento). Il grafico mostra la distribuzione dei macro-generi estratti da artists.csv: citare la presenza di 'Other' e motivarla.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Sezione di transizione. La domanda aperta crea attesa: lasciarla sospesa un secondo prima di far vedere il grafico.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Spiegare perché si vede immediatamente l'arancione senza leggere la legenda: questo è l'attributo pre-attentivo di Ware. La legenda esterna è stata eliminata perché aggiunge carico cognitivo (working memory). NOTA CRITICA: in una versione migliorata (30L) si aggiungerebbe una fascia fill_between che mostra la varianza attorno alla media — l'assenza di intervalli di confidenza è una limitazione dichiarata.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heatmap complementa il line plot: là vediamo la forma del trend, qui i valori precisi per decade. La scala RdBu_r è stata scelta al posto di RdYlGn (originale) perché RdYlGn non è distinguibile per i daltonici rosso-verdi (~8% degli uomini). Il valore numerico in ogni cella risponde al principio di ridondanza percettiva di Ware: il colore da solo non basta, il numero è il failsafe.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da risolvere: se metto tutte le linee in un unico plot ottengo effetto spaghetti. La soluzione è la griglia Tufte.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Principio Tufte: stessa scala (sharey=True), stesso frame visivo per ogni pannello. L'occhio confronta le FORME, non le scale. I generi sono ordinati per numerosità campionaria (più frequente a sinistra) come prescrive Bertin: i dati nominali senza ordine intrinseco vanno ordinati per una metrica derivata dai dati stessi. Classical mantiene acousticness alta e stabile → musica acustica per definizione. Electronic crolla → transizione tecnologica visibile.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versione estesa 4×5 permette di vedere tutti i pattern insieme. sharey='row' significa che la scala di danceability è la stessa per tutti i generi NELLA STESSA RIGA — le differenze visibili sono differenze reali nei dati. Nota: Hip-Hop mostra la danceability in crescita costante dopo il 1990 — questo emerge immediatamente dalla forma del pannello, non serve testo.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K-Means trova i cluster SENZA etichette di genere. Poi confrontiamo con i generi reali.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scelta di k non è arbitraria: è giustificata da due metriche indipendenti. Il Silhouette Score misura quanto un punto è simile al suo cluster rispetto agli altri. Il k evidenziato in arancione bruciato è immediatamente identificabile senza leggere i valori numerici (Ware: pre-attentività).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linea spessa è un cluster = un archetipo sonoro. Le linee sottili in background mostrano la densità reale dei dati. Il nome di ogni cluster (es. 'acustico-calmo') è stato assegnato a posteriori leggendo il profilo Z-score — l'algoritmo non conosceva le etichette. NOTA CRITICA: un Parallel Coordinates Plot statico su dati ad alta densità è un anti-pattern (Shneiderman) senza brushing interattivo. Per il 30L si implementerebbe in Plotly con filtering dinamico.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domanda più narrativamente forte del progetto. Spoiler: non è solo la danceability.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Random Forest sarebbe più accurato, ma un Decision Tree singolo è l'unico modello che si può VISUALIZZARE — requisito del modulo Soto. Leggere l'albero in live: 'Prima domanda: energy &gt; X? Sì → vai a destra, la canzone ha più probabilità di essere una hit.' Seguire il path più interessante per la narrativa. MIGLIORAMENTO POSSIBILE: mappare lo spessore dei rami proporzionalmente al numero di sample che li attraversano (Soto: visual variable thickness).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Compilare i valori della tabella dopo aver eseguito il notebook. Il punto chiave: quale feature emerge come split principale alla radice? Questo risponde alla domanda di ricerca 'formula del successo'. La Confusion Matrix mostra onestamente il trade-off: class_weight='balanced' aiuta ma non risolve lo sbilanciamento hit/non-hit.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Rispondere a ciascuna domanda con i valori REALI dal notebook. Collegare le risposte: acousticness cala (M2) → questo separa i cluster (M4) → l'energy alta predice le hit (M5). Il filo narrativo è una storia unica, non tre analisi separate.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Dichiarare i limiti prima che la commissione li sollevi: è un segnale di rigore metodologico, non di debolezza.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2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2560320"/>
            <a:ext cx="4389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0" b="1" dirty="0">
                <a:solidFill>
                  <a:srgbClr val="3C3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1921–2020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Shape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BF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Music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502920" y="2743200"/>
            <a:ext cx="2286000" cy="36576"/>
          </a:xfrm>
          <a:prstGeom prst="rect">
            <a:avLst/>
          </a:prstGeom>
          <a:solidFill>
            <a:srgbClr val="B4B2A9"/>
          </a:solidFill>
          <a:ln w="12700">
            <a:solidFill>
              <a:srgbClr val="B4B2A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92608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Visualizzazione delle Feature Audio · Dataset Spotify 1921–2020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44805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Visualizzazione Scientifica  ·  A.A. 2025/26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Abstraction: perché questa analisi?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11480" y="886968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Munzner (2014) · Nested Model of Visualization Design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1188720"/>
            <a:ext cx="2788920" cy="3611880"/>
          </a:xfrm>
          <a:prstGeom prst="roundRect">
            <a:avLst>
              <a:gd name="adj" fmla="val 3279"/>
            </a:avLst>
          </a:prstGeom>
          <a:solidFill>
            <a:srgbClr val="E6F1FB"/>
          </a:solidFill>
          <a:ln w="6350">
            <a:solidFill>
              <a:srgbClr val="185FA5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3258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C44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75564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Obiettivi analitici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25146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trend temporali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generi musicali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C4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hit → feature audio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1188720"/>
            <a:ext cx="2788920" cy="3611880"/>
          </a:xfrm>
          <a:prstGeom prst="roundRect">
            <a:avLst>
              <a:gd name="adj" fmla="val 3279"/>
            </a:avLst>
          </a:prstGeom>
          <a:solidFill>
            <a:srgbClr val="E1F5EE"/>
          </a:solidFill>
          <a:ln w="6350">
            <a:solidFill>
              <a:srgbClr val="1D9E75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13258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50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74720" y="175564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di dati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74720" y="2148840"/>
            <a:ext cx="25146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quantitative (10 feature audio)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categorici (generi)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ad albero (DT)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1188720"/>
            <a:ext cx="2788920" cy="3611880"/>
          </a:xfrm>
          <a:prstGeom prst="roundRect">
            <a:avLst>
              <a:gd name="adj" fmla="val 3279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0" y="13258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38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0" y="175564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Idiom visivo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0" y="2148840"/>
            <a:ext cx="25146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marks + Small Multiples (M2, M3)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Coordinates (M4)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Node-link diagram (M5)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Dataset: 586.000 brani, cent'anni di musica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3566160" cy="987552"/>
          </a:xfrm>
          <a:prstGeom prst="roundRect">
            <a:avLst>
              <a:gd name="adj" fmla="val 7407"/>
            </a:avLst>
          </a:prstGeom>
          <a:solidFill>
            <a:srgbClr val="FAFAF8"/>
          </a:solidFill>
          <a:ln w="6350">
            <a:solidFill>
              <a:srgbClr val="D3D1C7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33856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F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586k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011680" y="12801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brani nel dataset pulito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2267712"/>
            <a:ext cx="3566160" cy="987552"/>
          </a:xfrm>
          <a:prstGeom prst="roundRect">
            <a:avLst>
              <a:gd name="adj" fmla="val 7407"/>
            </a:avLst>
          </a:prstGeom>
          <a:solidFill>
            <a:srgbClr val="FAFAF8"/>
          </a:solidFill>
          <a:ln w="6350">
            <a:solidFill>
              <a:srgbClr val="D3D1C7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2304288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F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2011680" y="2450592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anni di copertura (1921–2020)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3438144"/>
            <a:ext cx="3566160" cy="987552"/>
          </a:xfrm>
          <a:prstGeom prst="roundRect">
            <a:avLst>
              <a:gd name="adj" fmla="val 7407"/>
            </a:avLst>
          </a:prstGeom>
          <a:solidFill>
            <a:srgbClr val="FAFAF8"/>
          </a:solidFill>
          <a:ln w="6350">
            <a:solidFill>
              <a:srgbClr val="D3D1C7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" y="347472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F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2011680" y="3621024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audio per brano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51960" y="1051560"/>
            <a:ext cx="4572000" cy="3520440"/>
          </a:xfrm>
          <a:prstGeom prst="roundRect">
            <a:avLst>
              <a:gd name="adj" fmla="val 2078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51960" y="25831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m1_genre_distribution.png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inserire output notebook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Stephen Few · Table Design: numeri allineati a destra, niente griglie interne · Lie Factor = 0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C2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0080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BF5200"/>
          </a:solidFill>
          <a:ln w="12700">
            <a:solidFill>
              <a:srgbClr val="BF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008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188720"/>
            <a:ext cx="8138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suona ogni decennio?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448056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Colin Ware · Pre-attentive Attributes  ·  Gestalt: Legge della Buona Continuazione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Acousticness in calo costante da 100 anni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430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−62% acousticness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BF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1921 al 2020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21945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Arancione bruciato = acousticness (feature chiave), grigio = tutte le altre → pre-attenzione (Ware)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28346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mobile 5 anni: riduce il rumore annuale senza mascherare i trend decennali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34747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1954–1972: accelerazione del calo nell'era rock elettrico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069080" y="1051560"/>
            <a:ext cx="4754880" cy="3520440"/>
          </a:xfrm>
          <a:prstGeom prst="roundRect">
            <a:avLst>
              <a:gd name="adj" fmla="val 2078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069080" y="25831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m2_temporal_evolution.png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inserire output notebook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Ware: un solo colore saturo (HIGHLIGHT) per la feature chiave · etichettatura diretta · asse Y da 0 (Lie Factor = 0)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profilo sonoro di ogni decade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8321040" cy="3429000"/>
          </a:xfrm>
          <a:prstGeom prst="roundRect">
            <a:avLst>
              <a:gd name="adj" fmla="val 213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2537460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m2_decade_heatmap.png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inserire output notebook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 RdBu_r: divergente, colorblind-safe (Ware) · verde → blu = basso, rosso = alto · valori numerici sopra ogni cella (ridondanza percettiva)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2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0080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BF5200"/>
          </a:solidFill>
          <a:ln w="12700">
            <a:solidFill>
              <a:srgbClr val="BF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008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188720"/>
            <a:ext cx="8138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generi si comportano tutti allo stesso modo?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448056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Tufte · Small Multiples  ·  Gestalt: Similarità e Prossimità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Classical e Electronic: due traiettorie opposte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8321040" cy="3429000"/>
          </a:xfrm>
          <a:prstGeom prst="roundRect">
            <a:avLst>
              <a:gd name="adj" fmla="val 213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2537460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m3_small_multiples_acousticness.png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inserire output notebook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sharey=True: stessa scala per tutti i pannelli → Lie Factor = 0 · generi ordinati per numerosità del campione · etichetta interna al pannello (Tufte)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pannelli, zero effetto spaghetti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8321040" cy="3429000"/>
          </a:xfrm>
          <a:prstGeom prst="roundRect">
            <a:avLst>
              <a:gd name="adj" fmla="val 213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2537460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m3_small_multiples_full.png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inserire output notebook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sharey='row': scala condivisa per feature · sharex=True · asse Y ancorato a [0, 1] = range completo delle feature Spotify normalizzate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C2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0080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BF5200"/>
          </a:solidFill>
          <a:ln w="12700">
            <a:solidFill>
              <a:srgbClr val="BF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008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188720"/>
            <a:ext cx="8138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Esistono archetipi sonori naturali?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448056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· Parallel Coordinates · ColorBrewer Set2 colorblind-safe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Selezionare il numero di cluster: Elbow + Silhouette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8321040" cy="3429000"/>
          </a:xfrm>
          <a:prstGeom prst="roundRect">
            <a:avLst>
              <a:gd name="adj" fmla="val 213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2537460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m4_cluster_diagnostics.png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inserire output notebook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Elbow Method (inertia) + Silhouette Score → k ottimale evidenziato in arancione (pre-attentivo) · nessuna scelta arbitraria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Gli archetipi sonori: ogni cluster è un profilo unico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8321040" cy="3429000"/>
          </a:xfrm>
          <a:prstGeom prst="roundRect">
            <a:avLst>
              <a:gd name="adj" fmla="val 213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2537460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m4_parallel_coordinates.png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inserire output notebook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ColorBrewer Set2: palette qualitativa colorblind-safe · linee sfondo = singoli brani (alpha 0.09) · linee spesse = centroidi cluster · etichettatura diretta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2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0080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BF5200"/>
          </a:solidFill>
          <a:ln w="12700">
            <a:solidFill>
              <a:srgbClr val="BF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008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188720"/>
            <a:ext cx="8138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rende un brano una hit?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448056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Soto · Hierarchical Visualization  ·  target: popularity ≥ 60 (~35% dei brani)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Decision Tree risponde: 4 domande per classificare una hit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8321040" cy="3429000"/>
          </a:xfrm>
          <a:prstGeom prst="roundRect">
            <a:avLst>
              <a:gd name="adj" fmla="val 213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2537460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m5_decision_tree.png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inserire output notebook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max_depth=4 · nodi colorati per purezza della classe (arancione=non-hit, blu=hit) · testo ridotto a condizione, gini e samples · legenda scala colore a destra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685800" cy="256032"/>
          </a:xfrm>
          <a:prstGeom prst="roundRect">
            <a:avLst>
              <a:gd name="adj" fmla="val 1785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011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Importance · Confronto modelli · Confusion Matrix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3474720" cy="128016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9601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AFA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AFA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C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AFA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F1-macro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C2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4B2A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notebook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4B2A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notebook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notebook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notebook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1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2468880"/>
            <a:ext cx="3474720" cy="1097280"/>
          </a:xfrm>
          <a:prstGeom prst="roundRect">
            <a:avLst>
              <a:gd name="adj" fmla="val 6667"/>
            </a:avLst>
          </a:prstGeom>
          <a:solidFill>
            <a:srgbClr val="FAEEDA"/>
          </a:solidFill>
          <a:ln w="6350">
            <a:solidFill>
              <a:srgbClr val="BF52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2523744"/>
            <a:ext cx="320040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dichiarato: DT è meno accurato di RF ma completamente visualizzabile (Soto). L'accuracy di RF è riportata come riferimento quantitativo.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160520" y="1051560"/>
            <a:ext cx="4617720" cy="2560320"/>
          </a:xfrm>
          <a:prstGeom prst="roundRect">
            <a:avLst>
              <a:gd name="adj" fmla="val 2857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160520" y="210312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m5_dt_diagnostics.png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inserire output notebook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11480" y="470916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B4B2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Importance: arancione = feature sopra il 65° percentile · Confusion Matrix: palette YlOrBr coerente con il progetto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2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domande, tre risposte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502920" cy="502920"/>
          </a:xfrm>
          <a:prstGeom prst="ellipse">
            <a:avLst/>
          </a:prstGeom>
          <a:solidFill>
            <a:srgbClr val="BF5200"/>
          </a:solidFill>
          <a:ln w="12700">
            <a:solidFill>
              <a:srgbClr val="BF52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143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051560"/>
            <a:ext cx="7635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è cambiato il suono?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435608"/>
            <a:ext cx="7635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Acousticness −62% in 100 anni. La curva di cambiamento si accelera nel 1954–1972.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2377440"/>
            <a:ext cx="502920" cy="502920"/>
          </a:xfrm>
          <a:prstGeom prst="ellipse">
            <a:avLst/>
          </a:prstGeom>
          <a:solidFill>
            <a:srgbClr val="BF5200"/>
          </a:solidFill>
          <a:ln w="12700">
            <a:solidFill>
              <a:srgbClr val="BF52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286000"/>
            <a:ext cx="7635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Esistono archetipi sonori?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670048"/>
            <a:ext cx="7635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Sì: k cluster distinti emergono dal K-Means senza etichette di genere. Il profilo Z-score li rende leggibili.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3611880"/>
            <a:ext cx="502920" cy="502920"/>
          </a:xfrm>
          <a:prstGeom prst="ellipse">
            <a:avLst/>
          </a:prstGeom>
          <a:solidFill>
            <a:srgbClr val="BF5200"/>
          </a:solidFill>
          <a:ln w="12700">
            <a:solidFill>
              <a:srgbClr val="BF52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520440"/>
            <a:ext cx="7635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5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rende un brano una hit?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3904488"/>
            <a:ext cx="7635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feature [da compilare dopo notebook] compaiono ai primi livelli dell'albero. Popularity ≥ 60 è predittibile con F1-macro = [valore].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2C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Limiti dichiarati &amp; sviluppi futuri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4069080" cy="1554480"/>
          </a:xfrm>
          <a:prstGeom prst="roundRect">
            <a:avLst>
              <a:gd name="adj" fmla="val 4706"/>
            </a:avLst>
          </a:prstGeom>
          <a:solidFill>
            <a:srgbClr val="FCF0F0"/>
          </a:solidFill>
          <a:ln w="6350">
            <a:solidFill>
              <a:srgbClr val="A32D2D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76072" y="117957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3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Interattività (Shneiderman)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6072" y="1527048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Parallel Coordinates Plot statico è un anti-pattern su dati densi. → Plotly con brushing sulle feature per il 30L.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09160" y="1051560"/>
            <a:ext cx="4069080" cy="1554480"/>
          </a:xfrm>
          <a:prstGeom prst="roundRect">
            <a:avLst>
              <a:gd name="adj" fmla="val 4706"/>
            </a:avLst>
          </a:prstGeom>
          <a:solidFill>
            <a:srgbClr val="FCF0F0"/>
          </a:solidFill>
          <a:ln w="6350">
            <a:solidFill>
              <a:srgbClr val="A32D2D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73752" y="117957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3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Varianza nascosta (rigore scientifico)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73752" y="1527048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media mobile non mostra la dispersione reale. → fill_between per intervallo di confidenza al 95%.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4069080" cy="1554480"/>
          </a:xfrm>
          <a:prstGeom prst="roundRect">
            <a:avLst>
              <a:gd name="adj" fmla="val 4706"/>
            </a:avLst>
          </a:prstGeom>
          <a:solidFill>
            <a:srgbClr val="FAEEDA"/>
          </a:solidFill>
          <a:ln w="6350">
            <a:solidFill>
              <a:srgbClr val="BA7517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76072" y="309981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 derivati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6072" y="3447288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colonna 'genre' è un mapping euristico da artists.csv — contiene rumore. → join più sofisticato o classificatore dedicato.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2971800"/>
            <a:ext cx="4069080" cy="1554480"/>
          </a:xfrm>
          <a:prstGeom prst="roundRect">
            <a:avLst>
              <a:gd name="adj" fmla="val 4706"/>
            </a:avLst>
          </a:prstGeom>
          <a:solidFill>
            <a:srgbClr val="FAEEDA"/>
          </a:solidFill>
          <a:ln w="6350">
            <a:solidFill>
              <a:srgbClr val="BA7517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73752" y="309981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Popolarità ≠ successo storico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73752" y="3447288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'popularity' misura il successo su Spotify OGGI, non al momento della pubblicazione.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C2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A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Riferimenti teorici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8138160" cy="3886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Tufte, E. (1983). The Visual Display of Quantitative Information. Graphics Press.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Few, S. (2004). Show Me the Numbers. Analytics Press.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Ware, C. (2004). Information Visualization: Perception for Design. Morgan Kaufmann.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Munzner, T. (2014). Visualization Analysis and Design. A K Peters/CRC Press.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Shneiderman, B. (1996). The Eyes Have It: A Task by Data Type Taxonomy. IEEE VL.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Brewer, C.A. et al. (2003). ColorBrewer: An Online Tool for Selecting Color Schemes. The Cartographic Journal.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Eren Ay, Y. (2021). Spotify Dataset 1921–2020, 600k+ Tracks. Kaggle.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Shape of Music</dc:title>
  <dc:subject>Spotify Dataset 1921-2020 · Feature Audio Analysis</dc:subject>
  <dc:creator>Corso di Visualizzazione Scientifica</dc:creator>
  <cp:lastModifiedBy>Corso di Visualizzazione Scientifica</cp:lastModifiedBy>
  <cp:revision>1</cp:revision>
  <dcterms:created xsi:type="dcterms:W3CDTF">2026-06-21T14:51:54Z</dcterms:created>
  <dcterms:modified xsi:type="dcterms:W3CDTF">2026-06-21T14:51:54Z</dcterms:modified>
</cp:coreProperties>
</file>