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10EB"/>
    <a:srgbClr val="EB9693"/>
    <a:srgbClr val="F3C9CB"/>
    <a:srgbClr val="EA4740"/>
    <a:srgbClr val="FF0000"/>
    <a:srgbClr val="BD5100"/>
    <a:srgbClr val="C052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03"/>
    <p:restoredTop sz="61560"/>
  </p:normalViewPr>
  <p:slideViewPr>
    <p:cSldViewPr snapToGrid="0" snapToObjects="1">
      <p:cViewPr varScale="1">
        <p:scale>
          <a:sx n="91" d="100"/>
          <a:sy n="91" d="100"/>
        </p:scale>
        <p:origin x="200" y="7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70568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Aprire con la domanda narrativa: se potessimo ascoltare un decennio in pochi secondi, come </a:t>
            </a:r>
            <a:r>
              <a:rPr lang="en-US" dirty="0" err="1"/>
              <a:t>suonerebbe</a:t>
            </a:r>
            <a:r>
              <a:rPr lang="en-US" dirty="0"/>
              <a:t>?. Il dataset Kaggle di Yamac Eren Ay e tra i rari con 100 anni di copertura e feature audio normalizzate dall'API Spotify.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Architettura del progetto su 3 pilastri metodologici:</a:t>
            </a:r>
          </a:p>
          <a:p>
            <a:pPr lvl="0"/>
            <a:endParaRPr lang="it-IT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1) </a:t>
            </a:r>
            <a:r>
              <a:rPr lang="it-IT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Nested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 (Tamara </a:t>
            </a:r>
            <a:r>
              <a:rPr lang="it-IT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Munzner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Il progetto è validato su 4 livelli (prevenire errori a cascata)</a:t>
            </a:r>
          </a:p>
          <a:p>
            <a:pPr lvl="1"/>
            <a:r>
              <a:rPr lang="it-IT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A) Domain </a:t>
            </a:r>
            <a:r>
              <a:rPr lang="it-IT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Characterization</a:t>
            </a:r>
            <a:r>
              <a:rPr lang="it-IT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Come suona un decennio? L'evoluzione della hit commerciale.</a:t>
            </a:r>
          </a:p>
          <a:p>
            <a:pPr lvl="1"/>
            <a:r>
              <a:rPr lang="it-IT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B) Data/Task </a:t>
            </a:r>
            <a:r>
              <a:rPr lang="it-IT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Abstraction</a:t>
            </a:r>
            <a:r>
              <a:rPr lang="it-IT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pPr lvl="1"/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-</a:t>
            </a:r>
            <a:r>
              <a:rPr lang="it-IT" dirty="0"/>
              <a:t> </a:t>
            </a:r>
            <a:r>
              <a:rPr lang="it-IT" i="1" dirty="0" err="1"/>
              <a:t>What</a:t>
            </a:r>
            <a:r>
              <a:rPr lang="it-IT" dirty="0"/>
              <a:t> (serie storiche, attributi quantitativi e strutture gerarchiche)</a:t>
            </a:r>
          </a:p>
          <a:p>
            <a:pPr lvl="1"/>
            <a:r>
              <a:rPr lang="it-IT" i="1" dirty="0"/>
              <a:t>	-Why</a:t>
            </a:r>
            <a:r>
              <a:rPr lang="it-IT" dirty="0"/>
              <a:t>, declinato nelle azioni analitiche di </a:t>
            </a:r>
            <a:r>
              <a:rPr lang="it-IT" i="1" dirty="0" err="1"/>
              <a:t>Discover</a:t>
            </a:r>
            <a:r>
              <a:rPr lang="it-IT" dirty="0"/>
              <a:t> dei trend, </a:t>
            </a:r>
            <a:r>
              <a:rPr lang="it-IT" i="1" dirty="0"/>
              <a:t>Compare</a:t>
            </a:r>
            <a:r>
              <a:rPr lang="it-IT" dirty="0"/>
              <a:t> dei generi e </a:t>
            </a:r>
            <a:r>
              <a:rPr lang="it-IT" i="1" dirty="0" err="1"/>
              <a:t>Verify</a:t>
            </a:r>
            <a:r>
              <a:rPr lang="it-IT" dirty="0"/>
              <a:t> delle ipotesi 		predittive. </a:t>
            </a:r>
          </a:p>
          <a:p>
            <a:pPr lvl="1"/>
            <a:r>
              <a:rPr lang="it-IT" dirty="0"/>
              <a:t>	-Questa astrazione vincola rigorosamente il </a:t>
            </a:r>
            <a:r>
              <a:rPr lang="it-IT" i="1" dirty="0"/>
              <a:t>Visual </a:t>
            </a:r>
            <a:r>
              <a:rPr lang="it-IT" i="1" dirty="0" err="1"/>
              <a:t>Encoding</a:t>
            </a:r>
            <a:r>
              <a:rPr lang="it-IT" i="1" dirty="0"/>
              <a:t> (How)</a:t>
            </a:r>
            <a:r>
              <a:rPr lang="it-IT" dirty="0"/>
              <a:t> e l'</a:t>
            </a:r>
            <a:r>
              <a:rPr lang="it-IT" i="1" dirty="0" err="1"/>
              <a:t>Algorithmic</a:t>
            </a:r>
            <a:r>
              <a:rPr lang="it-IT" i="1" dirty="0"/>
              <a:t> Design</a:t>
            </a:r>
            <a:r>
              <a:rPr lang="it-IT" dirty="0"/>
              <a:t>.</a:t>
            </a:r>
            <a:endParaRPr lang="it-IT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endParaRPr lang="it-IT" sz="120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endParaRPr lang="it-IT" sz="120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it-IT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C) Visual </a:t>
            </a:r>
            <a:r>
              <a:rPr lang="it-IT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Encoding</a:t>
            </a:r>
            <a:r>
              <a:rPr lang="it-IT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/Interaction: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Scelte visive basate su Tufte, Gestalt e Ware.</a:t>
            </a:r>
          </a:p>
          <a:p>
            <a:pPr lvl="1"/>
            <a:r>
              <a:rPr lang="it-IT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D) </a:t>
            </a:r>
            <a:r>
              <a:rPr lang="it-IT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Algorithmic</a:t>
            </a:r>
            <a:r>
              <a:rPr lang="it-IT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Design: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Elaborazione in Python/</a:t>
            </a:r>
            <a:r>
              <a:rPr lang="it-I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Pandas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</a:t>
            </a:r>
            <a:r>
              <a:rPr lang="it-I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Tree (Scikit-Learn).</a:t>
            </a:r>
          </a:p>
          <a:p>
            <a:pPr lvl="1"/>
            <a:endParaRPr lang="it-IT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endParaRPr lang="it-IT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endParaRPr lang="it-IT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Visual Analytics Process (Keim)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Nel primo modulo relativo alla </a:t>
            </a:r>
            <a:r>
              <a:rPr lang="it-IT" b="1" dirty="0"/>
              <a:t>Data Quality</a:t>
            </a:r>
            <a:r>
              <a:rPr lang="it-IT" dirty="0"/>
              <a:t>, applichiamo i canoni di Stephen Few per il Tabular Design. La tabella non è un </a:t>
            </a:r>
            <a:r>
              <a:rPr lang="it-IT" u="sng" dirty="0"/>
              <a:t>mero elemento testuale</a:t>
            </a:r>
            <a:r>
              <a:rPr lang="it-IT" dirty="0"/>
              <a:t>, ma un idioma di </a:t>
            </a:r>
            <a:r>
              <a:rPr lang="it-IT" b="1" dirty="0"/>
              <a:t>visualizzazione quantitativa</a:t>
            </a:r>
            <a:r>
              <a:rPr lang="it-IT" dirty="0"/>
              <a:t>. </a:t>
            </a:r>
          </a:p>
          <a:p>
            <a:r>
              <a:rPr lang="en-US" dirty="0">
                <a:sym typeface="Wingdings" pitchFamily="2" charset="2"/>
              </a:rPr>
              <a:t> </a:t>
            </a:r>
            <a:r>
              <a:rPr lang="en-US" dirty="0" err="1"/>
              <a:t>strumento</a:t>
            </a:r>
            <a:r>
              <a:rPr lang="en-US" dirty="0"/>
              <a:t> </a:t>
            </a:r>
            <a:r>
              <a:rPr lang="en-US" dirty="0" err="1"/>
              <a:t>d’elezione</a:t>
            </a:r>
            <a:r>
              <a:rPr lang="en-US" dirty="0"/>
              <a:t> </a:t>
            </a:r>
            <a:r>
              <a:rPr lang="en-US" dirty="0" err="1"/>
              <a:t>quando</a:t>
            </a:r>
            <a:r>
              <a:rPr lang="en-US" dirty="0"/>
              <a:t> </a:t>
            </a:r>
            <a:r>
              <a:rPr lang="en-US" dirty="0" err="1"/>
              <a:t>l’utente</a:t>
            </a:r>
            <a:r>
              <a:rPr lang="en-US" dirty="0"/>
              <a:t> </a:t>
            </a:r>
            <a:r>
              <a:rPr lang="en-US" dirty="0" err="1"/>
              <a:t>deve</a:t>
            </a:r>
            <a:r>
              <a:rPr lang="en-US" dirty="0"/>
              <a:t> </a:t>
            </a:r>
            <a:r>
              <a:rPr lang="en-US" b="1" dirty="0" err="1"/>
              <a:t>effettuare</a:t>
            </a:r>
            <a:r>
              <a:rPr lang="en-US" b="1" dirty="0"/>
              <a:t> un look-up di </a:t>
            </a:r>
            <a:r>
              <a:rPr lang="en-US" b="1" dirty="0" err="1"/>
              <a:t>valori</a:t>
            </a:r>
            <a:r>
              <a:rPr lang="en-US" b="1" dirty="0"/>
              <a:t> </a:t>
            </a:r>
            <a:r>
              <a:rPr lang="en-US" b="1" dirty="0" err="1"/>
              <a:t>precisi</a:t>
            </a:r>
            <a:r>
              <a:rPr lang="en-US" dirty="0"/>
              <a:t> o </a:t>
            </a:r>
            <a:r>
              <a:rPr lang="en-US" dirty="0" err="1"/>
              <a:t>quando</a:t>
            </a:r>
            <a:r>
              <a:rPr lang="en-US" dirty="0"/>
              <a:t> ci </a:t>
            </a:r>
            <a:r>
              <a:rPr lang="en-US" dirty="0" err="1"/>
              <a:t>sono</a:t>
            </a:r>
            <a:r>
              <a:rPr lang="en-US" dirty="0"/>
              <a:t> </a:t>
            </a:r>
            <a:r>
              <a:rPr lang="en-US" b="1" dirty="0" err="1"/>
              <a:t>unitá</a:t>
            </a:r>
            <a:r>
              <a:rPr lang="en-US" b="1" dirty="0"/>
              <a:t> di </a:t>
            </a:r>
            <a:r>
              <a:rPr lang="en-US" b="1" dirty="0" err="1"/>
              <a:t>misura</a:t>
            </a:r>
            <a:r>
              <a:rPr lang="en-US" b="1" dirty="0"/>
              <a:t> diverse</a:t>
            </a:r>
            <a:endParaRPr lang="it-IT" dirty="0"/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Abbiamo massimizzato il Data-Ink Ratio (Tufte) eliminando le linee di griglia interne ed evitando l'effetto Moiré. L'allineamento a destra dei valori numerici permette alla memoria iconica di confrontare istantaneamente gli ordini di grandezza. Il Lie Factor è mantenuto rigorosamente pari a 1 grazie alla normalizzazione Min-Max delle feature acustiche, garantendo l'integrità grafica prescritta da Edward Tufte.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Sezione di transizione. La domanda aperta crea attesa: lasciarla sospesa un secondo prima di far vedere il grafico.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Spiegare perché si vede immediatamente l'arancione senza leggere la legenda: questo è l'attributo pre-attentivo di Ware. La legenda esterna è stata eliminata perché aggiunge carico cognitivo (working memory). NOTA CRITICA: in una versione migliorata (30L) si aggiungerebbe una fascia fill_between che mostra la varianza attorno alla media — l'assenza di intervalli di confidenza è una limitazione dichiarata.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heatmap complementa il line plot: là vediamo la forma del trend, qui i valori precisi per decade. La scala RdBu_r è stata scelta al posto di RdYlGn (originale) perché RdYlGn non è distinguibile per i daltonici rosso-verdi (~8% degli uomini). Il valore numerico in ogni cella risponde al principio di ridondanza percettiva di Ware: il colore da solo non basta, il numero è il failsafe.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Problema da risolvere: se metto tutte le linee in un unico plot ottengo effetto spaghetti. La soluzione è la griglia Tufte.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Principio Tufte: stessa scala (sharey=True), stesso frame visivo per ogni pannello. L'occhio confronta le FORME, non le scale. I generi sono ordinati per numerosità campionaria (più frequente a sinistra) come prescrive Bertin: i dati nominali senza ordine intrinseco vanno ordinati per una metrica derivata dai dati stessi. Classical mantiene acousticness alta e stabile → musica acustica per definizione. Electronic crolla → transizione tecnologica visibile.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versione estesa 4×5 permette di vedere tutti i pattern insieme. sharey='row' significa che la scala di danceability è la stessa per tutti i generi NELLA STESSA RIGA — le differenze visibili sono differenze reali nei dati. Nota: Hip-Hop mostra la danceability in crescita costante dopo il 1990 — questo emerge immediatamente dalla forma del pannello, non serve testo.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K-Means trova i cluster SENZA etichette di genere. Poi confrontiamo con i generi reali.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scelta di k non è arbitraria: è giustificata da due metriche indipendenti. Il Silhouette Score misura quanto un punto è simile al suo cluster rispetto agli altri. Il k evidenziato in arancione bruciato è immediatamente identificabile senza leggere i valori numerici (Ware: pre-attentività).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linea spessa è un cluster = un archetipo sonoro. Le linee sottili in background mostrano la densità reale dei dati. Il nome di ogni cluster (es. 'acustico-calmo') è stato assegnato a posteriori leggendo il profilo Z-score — l'algoritmo non conosceva le etichette. NOTA CRITICA: un Parallel Coordinates Plot statico su dati ad alta densità è un anti-pattern (Shneiderman) senza brushing interattivo. Per il 30L si implementerebbe in Plotly con filtering dinamico.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domanda più narrativamente forte del progetto. Spoiler: non è solo la danceability.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Random Forest sarebbe più accurato, ma un Decision Tree singolo è l'unico modello che si può VISUALIZZARE — requisito del modulo Soto. Leggere l'albero in live: 'Prima domanda: energy &gt; X? Sì → vai a destra, la canzone ha più probabilità di essere una hit.' Seguire il path più interessante per la narrativa. MIGLIORAMENTO POSSIBILE: mappare lo spessore dei rami proporzionalmente al numero di sample che li attraversano (Soto: visual variable thickness).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Compilare i valori della tabella dopo aver eseguito il notebook. Il punto chiave: quale feature emerge come split principale alla radice? Questo risponde alla domanda di ricerca 'formula del successo'. La Confusion Matrix mostra onestamente il trade-off: class_weight='balanced' aiuta ma non risolve lo sbilanciamento hit/non-hit.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Rispondere a ciascuna domanda con i valori REALI dal notebook. Collegare le risposte: acousticness cala (M2) → questo separa i cluster (M4) → l'energy alta predice le hit (M5). Il filo narrativo è una storia unica, non tre analisi separate.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Dichiarare i limiti prima che la commissione li sollevi: è un segnale di rigore metodologico, non di debolezza.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2C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82745" y="2030562"/>
            <a:ext cx="43891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0" b="1" dirty="0">
                <a:solidFill>
                  <a:srgbClr val="C05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r>
              <a:rPr lang="en-US" sz="8000" b="1" dirty="0">
                <a:solidFill>
                  <a:srgbClr val="3C3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</a:p>
          <a:p>
            <a:pPr marL="0" indent="0" algn="r">
              <a:buNone/>
            </a:pPr>
            <a:r>
              <a:rPr lang="en-US" sz="8000" b="1" dirty="0">
                <a:solidFill>
                  <a:srgbClr val="BD5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r>
              <a:rPr lang="en-US" sz="8000" b="1" dirty="0">
                <a:solidFill>
                  <a:srgbClr val="3C3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388471" y="1026154"/>
            <a:ext cx="6515249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it-IT" sz="4800" b="1" dirty="0">
                <a:solidFill>
                  <a:srgbClr val="FAFAF8"/>
                </a:solidFill>
                <a:latin typeface="Aptos Display" panose="020B0004020202020204" pitchFamily="34" charset="0"/>
                <a:ea typeface="Apple Color Emoji" pitchFamily="2" charset="0"/>
              </a:rPr>
              <a:t>La Trasformazione </a:t>
            </a:r>
          </a:p>
          <a:p>
            <a:r>
              <a:rPr lang="it-IT" sz="4800" b="1" dirty="0">
                <a:solidFill>
                  <a:srgbClr val="FAFAF8"/>
                </a:solidFill>
                <a:latin typeface="Aptos Display" panose="020B0004020202020204" pitchFamily="34" charset="0"/>
                <a:ea typeface="Apple Color Emoji" pitchFamily="2" charset="0"/>
              </a:rPr>
              <a:t>del </a:t>
            </a:r>
            <a:r>
              <a:rPr lang="it-IT" sz="4800" b="1" dirty="0">
                <a:solidFill>
                  <a:srgbClr val="C05200"/>
                </a:solidFill>
                <a:latin typeface="Aptos Display" panose="020B0004020202020204" pitchFamily="34" charset="0"/>
                <a:ea typeface="Apple Color Emoji" pitchFamily="2" charset="0"/>
              </a:rPr>
              <a:t>Suono</a:t>
            </a:r>
          </a:p>
          <a:p>
            <a:r>
              <a:rPr lang="it-IT" sz="4800" b="1" dirty="0">
                <a:solidFill>
                  <a:srgbClr val="FAFAF8"/>
                </a:solidFill>
                <a:latin typeface="Aptos Display" panose="020B0004020202020204" pitchFamily="34" charset="0"/>
                <a:ea typeface="Apple Color Emoji" pitchFamily="2" charset="0"/>
              </a:rPr>
              <a:t>in un </a:t>
            </a:r>
            <a:r>
              <a:rPr lang="it-IT" sz="4800" b="1" dirty="0">
                <a:solidFill>
                  <a:srgbClr val="C05200"/>
                </a:solidFill>
                <a:latin typeface="Aptos Display" panose="020B0004020202020204" pitchFamily="34" charset="0"/>
                <a:ea typeface="Apple Color Emoji" pitchFamily="2" charset="0"/>
              </a:rPr>
              <a:t>Secolo</a:t>
            </a:r>
          </a:p>
          <a:p>
            <a:pPr marL="0" indent="0">
              <a:buNone/>
            </a:pP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02920" y="169164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502920" y="3018114"/>
            <a:ext cx="2286000" cy="36576"/>
          </a:xfrm>
          <a:prstGeom prst="rect">
            <a:avLst/>
          </a:prstGeom>
          <a:solidFill>
            <a:srgbClr val="B4B2A9"/>
          </a:solidFill>
          <a:ln w="12700">
            <a:solidFill>
              <a:srgbClr val="B4B2A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419256" y="3266741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it-IT" sz="1400" dirty="0">
                <a:solidFill>
                  <a:srgbClr val="D3D1C7"/>
                </a:solidFill>
                <a:latin typeface="Calibri" pitchFamily="34" charset="0"/>
                <a:cs typeface="Calibri" pitchFamily="34" charset="-120"/>
              </a:rPr>
              <a:t>Viaggio analitico nelle feature audio del Dataset Spotify</a:t>
            </a:r>
          </a:p>
        </p:txBody>
      </p:sp>
      <p:sp>
        <p:nvSpPr>
          <p:cNvPr id="7" name="Text 5"/>
          <p:cNvSpPr/>
          <p:nvPr/>
        </p:nvSpPr>
        <p:spPr>
          <a:xfrm>
            <a:off x="413280" y="461203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Arcadia Cipolla M.66969A – Daniele Intra M.53665A   -  A.A. 2025/26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 Abstraction: perché questa analisi?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11480" y="886968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Munzner (2014) · Nested Model of Visualization Design</a:t>
            </a:r>
            <a:endParaRPr lang="en-US" sz="1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3182823" y="1709225"/>
            <a:ext cx="2788920" cy="2482945"/>
          </a:xfrm>
          <a:prstGeom prst="roundRect">
            <a:avLst>
              <a:gd name="adj" fmla="val 3279"/>
            </a:avLst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 b="1">
              <a:latin typeface="Aptos Display" panose="020B0004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319983" y="1846385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latin typeface="Aptos Display" panose="020B0004020202020204" pitchFamily="34" charset="0"/>
                <a:ea typeface="Cambria" pitchFamily="34" charset="-122"/>
                <a:cs typeface="Cambria" pitchFamily="34" charset="-120"/>
              </a:rPr>
              <a:t>WHY</a:t>
            </a:r>
            <a:endParaRPr lang="en-US" sz="2400" b="1" dirty="0">
              <a:latin typeface="Aptos Display" panose="020B00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3334051" y="2276153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Obiettivi analitici</a:t>
            </a:r>
            <a:endParaRPr lang="en-US" sz="1050" b="1" dirty="0">
              <a:latin typeface="Aptos Display" panose="020B0004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3319983" y="2669345"/>
            <a:ext cx="25146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b="1" dirty="0"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Discover trend temporali</a:t>
            </a:r>
            <a:endParaRPr lang="en-US" sz="1400" b="1" dirty="0">
              <a:latin typeface="Aptos Display" panose="020B0004020202020204" pitchFamily="34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Compare generi musicali</a:t>
            </a:r>
            <a:endParaRPr lang="en-US" sz="1400" b="1" dirty="0">
              <a:latin typeface="Aptos Display" panose="020B0004020202020204" pitchFamily="34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Verify: hit → feature audio</a:t>
            </a:r>
            <a:endParaRPr lang="en-US" sz="1400" b="1" dirty="0">
              <a:latin typeface="Aptos Display" panose="020B000402020202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7925" y="1723290"/>
            <a:ext cx="2788920" cy="2468880"/>
          </a:xfrm>
          <a:prstGeom prst="roundRect">
            <a:avLst>
              <a:gd name="adj" fmla="val 3279"/>
            </a:avLst>
          </a:prstGeom>
          <a:solidFill>
            <a:srgbClr val="F3C9CB"/>
          </a:solidFill>
          <a:ln w="6350">
            <a:solidFill>
              <a:srgbClr val="FF000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 b="1">
              <a:latin typeface="Aptos Display" panose="020B0004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225085" y="186045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latin typeface="Aptos Display" panose="020B0004020202020204" pitchFamily="34" charset="0"/>
                <a:ea typeface="Cambria" pitchFamily="34" charset="-122"/>
                <a:cs typeface="Cambria" pitchFamily="34" charset="-120"/>
              </a:rPr>
              <a:t>WHAT</a:t>
            </a:r>
            <a:endParaRPr lang="en-US" sz="2400" b="1" dirty="0">
              <a:latin typeface="Aptos Display" panose="020B0004020202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53221" y="229021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Tipo di dati</a:t>
            </a:r>
            <a:endParaRPr lang="en-US" sz="1050" b="1" dirty="0">
              <a:latin typeface="Aptos Display" panose="020B0004020202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25085" y="2683410"/>
            <a:ext cx="25146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b="1" dirty="0"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Time-series quantitative (10 feature audio)</a:t>
            </a:r>
            <a:endParaRPr lang="en-US" sz="1400" b="1" dirty="0">
              <a:latin typeface="Aptos Display" panose="020B0004020202020204" pitchFamily="34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Dati categorici (generi)</a:t>
            </a:r>
            <a:endParaRPr lang="en-US" sz="1400" b="1" dirty="0">
              <a:latin typeface="Aptos Display" panose="020B0004020202020204" pitchFamily="34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Struttura ad albero (DT)</a:t>
            </a:r>
            <a:endParaRPr lang="en-US" sz="1400" b="1" dirty="0">
              <a:latin typeface="Aptos Display" panose="020B000402020202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263640" y="1709225"/>
            <a:ext cx="2788920" cy="2482945"/>
          </a:xfrm>
          <a:prstGeom prst="roundRect">
            <a:avLst>
              <a:gd name="adj" fmla="val 3279"/>
            </a:avLst>
          </a:prstGeom>
          <a:solidFill>
            <a:schemeClr val="accent6">
              <a:lumMod val="20000"/>
              <a:lumOff val="80000"/>
            </a:schemeClr>
          </a:solidFill>
          <a:ln w="6350">
            <a:solidFill>
              <a:schemeClr val="accent6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6400800" y="1846385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latin typeface="Aptos Display" panose="020B0004020202020204" pitchFamily="34" charset="0"/>
                <a:ea typeface="Cambria" pitchFamily="34" charset="-122"/>
                <a:cs typeface="Cambria" pitchFamily="34" charset="-120"/>
              </a:rPr>
              <a:t>HOW</a:t>
            </a:r>
            <a:endParaRPr lang="en-US" sz="2400" b="1" dirty="0">
              <a:latin typeface="Aptos Display" panose="020B00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414868" y="2276153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Idiom visivo</a:t>
            </a:r>
            <a:endParaRPr lang="en-US" sz="1050" b="1" dirty="0">
              <a:latin typeface="Aptos Display" panose="020B0004020202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400800" y="2669345"/>
            <a:ext cx="2514600" cy="11711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b="1" dirty="0"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Line marks + Small Multiples (M2, M3)</a:t>
            </a:r>
            <a:endParaRPr lang="en-US" sz="1400" b="1" dirty="0">
              <a:latin typeface="Aptos Display" panose="020B0004020202020204" pitchFamily="34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Parallel Coordinates (M4)</a:t>
            </a:r>
            <a:endParaRPr lang="en-US" sz="1400" b="1" dirty="0">
              <a:latin typeface="Aptos Display" panose="020B0004020202020204" pitchFamily="34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latin typeface="Aptos Display" panose="020B0004020202020204" pitchFamily="34" charset="0"/>
                <a:ea typeface="Calibri" pitchFamily="34" charset="-122"/>
                <a:cs typeface="Calibri" pitchFamily="34" charset="-120"/>
              </a:rPr>
              <a:t>Node-link diagram (M5)</a:t>
            </a:r>
            <a:endParaRPr lang="en-US" sz="1400" b="1" dirty="0">
              <a:latin typeface="Aptos Display" panose="020B00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85800" cy="256032"/>
          </a:xfrm>
          <a:prstGeom prst="roundRect">
            <a:avLst>
              <a:gd name="adj" fmla="val 17857"/>
            </a:avLst>
          </a:prstGeom>
          <a:solidFill>
            <a:srgbClr val="FAEEDA"/>
          </a:solidFill>
          <a:ln w="6350">
            <a:solidFill>
              <a:srgbClr val="BF52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0116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F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Dataset: 586.000 brani, cent'anni di musica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1920240" cy="987552"/>
          </a:xfrm>
          <a:prstGeom prst="roundRect">
            <a:avLst>
              <a:gd name="adj" fmla="val 7407"/>
            </a:avLst>
          </a:prstGeom>
          <a:solidFill>
            <a:srgbClr val="FAFAF8"/>
          </a:solidFill>
          <a:ln w="6350">
            <a:solidFill>
              <a:srgbClr val="D3D1C7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502920" y="1133856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BF5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586k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502920" y="1503836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brani nel dataset pulito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2267712"/>
            <a:ext cx="1920240" cy="987552"/>
          </a:xfrm>
          <a:prstGeom prst="roundRect">
            <a:avLst>
              <a:gd name="adj" fmla="val 7407"/>
            </a:avLst>
          </a:prstGeom>
          <a:solidFill>
            <a:srgbClr val="FAFAF8"/>
          </a:solidFill>
          <a:ln w="6350">
            <a:solidFill>
              <a:srgbClr val="D3D1C7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502920" y="2304288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BF5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502920" y="2677082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anni (1921–2020)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1480" y="3438144"/>
            <a:ext cx="1920240" cy="987552"/>
          </a:xfrm>
          <a:prstGeom prst="roundRect">
            <a:avLst>
              <a:gd name="adj" fmla="val 7407"/>
            </a:avLst>
          </a:prstGeom>
          <a:solidFill>
            <a:srgbClr val="FAFAF8"/>
          </a:solidFill>
          <a:ln w="6350">
            <a:solidFill>
              <a:srgbClr val="D3D1C7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502920" y="347472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BF5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502920" y="386158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audio per brano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11480" y="4709160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i="1" strike="sngStrike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Stephen Few · Table Design: numeri allineati a destra, niente griglie interne · Lie Factor = 1</a:t>
            </a:r>
            <a:endParaRPr lang="en-US" sz="950" strike="sngStrike" dirty="0">
              <a:solidFill>
                <a:srgbClr val="FF0000"/>
              </a:solidFill>
            </a:endParaRPr>
          </a:p>
        </p:txBody>
      </p:sp>
      <p:pic>
        <p:nvPicPr>
          <p:cNvPr id="18" name="Immagine 17">
            <a:extLst>
              <a:ext uri="{FF2B5EF4-FFF2-40B4-BE49-F238E27FC236}">
                <a16:creationId xmlns:a16="http://schemas.microsoft.com/office/drawing/2014/main" id="{68E01972-880F-2377-176C-C1AB5279F3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1129" y="1350500"/>
            <a:ext cx="6151391" cy="3013435"/>
          </a:xfrm>
          <a:prstGeom prst="rect">
            <a:avLst/>
          </a:prstGeom>
        </p:spPr>
      </p:pic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301732D5-D595-0DE9-AF95-2BAB5A665C88}"/>
              </a:ext>
            </a:extLst>
          </p:cNvPr>
          <p:cNvSpPr txBox="1"/>
          <p:nvPr/>
        </p:nvSpPr>
        <p:spPr>
          <a:xfrm>
            <a:off x="4839287" y="4271694"/>
            <a:ext cx="44735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rgbClr val="F610EB"/>
                </a:solidFill>
              </a:rPr>
              <a:t>Massimizzato data-</a:t>
            </a:r>
            <a:r>
              <a:rPr lang="it-IT" dirty="0" err="1">
                <a:solidFill>
                  <a:srgbClr val="F610EB"/>
                </a:solidFill>
              </a:rPr>
              <a:t>ink</a:t>
            </a:r>
            <a:r>
              <a:rPr lang="it-IT" dirty="0">
                <a:solidFill>
                  <a:srgbClr val="F610EB"/>
                </a:solidFill>
              </a:rPr>
              <a:t> di Tufte e tolto Moiré???? Griglia c’è ancora!!!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C2C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0080"/>
            <a:ext cx="822960" cy="329184"/>
          </a:xfrm>
          <a:prstGeom prst="roundRect">
            <a:avLst>
              <a:gd name="adj" fmla="val 16667"/>
            </a:avLst>
          </a:prstGeom>
          <a:solidFill>
            <a:srgbClr val="BF5200"/>
          </a:solidFill>
          <a:ln w="12700">
            <a:solidFill>
              <a:srgbClr val="BF52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AF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1188720"/>
            <a:ext cx="8138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AFA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suona ogni decennio?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02920" y="4480560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Colin Ware · Pre-attentive Attributes  ·  Gestalt: Legge della Buona Continuazione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85800" cy="256032"/>
          </a:xfrm>
          <a:prstGeom prst="roundRect">
            <a:avLst>
              <a:gd name="adj" fmla="val 17857"/>
            </a:avLst>
          </a:prstGeom>
          <a:solidFill>
            <a:srgbClr val="FAEEDA"/>
          </a:solidFill>
          <a:ln w="6350">
            <a:solidFill>
              <a:srgbClr val="BF52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0116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F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Acousticness in calo costante da 100 anni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AEEDA"/>
          </a:solidFill>
          <a:ln w="6350">
            <a:solidFill>
              <a:srgbClr val="BF52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548640" y="114300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F5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−62% acousticness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BF5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1921 al 2020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11480" y="21945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Arancione bruciato = acousticness (feature chiave), grigio = tutte le altre → pre-attenzione (Ware)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283464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mobile 5 anni: riduce il rumore annuale senza mascherare i trend decennali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34747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Banda 1954–1972: accelerazione del calo nell'era rock elettrico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069080" y="1051560"/>
            <a:ext cx="4754880" cy="3520440"/>
          </a:xfrm>
          <a:prstGeom prst="roundRect">
            <a:avLst>
              <a:gd name="adj" fmla="val 2078"/>
            </a:avLst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4069080" y="25831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m2_temporal_evolution.png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inserire output notebook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11480" y="4709160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Ware: un solo colore saturo (HIGHLIGHT) per la feature chiave · etichettatura diretta · asse Y da 0 (Lie Factor = 0)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85800" cy="256032"/>
          </a:xfrm>
          <a:prstGeom prst="roundRect">
            <a:avLst>
              <a:gd name="adj" fmla="val 17857"/>
            </a:avLst>
          </a:prstGeom>
          <a:solidFill>
            <a:srgbClr val="FAEEDA"/>
          </a:solidFill>
          <a:ln w="6350">
            <a:solidFill>
              <a:srgbClr val="BF52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0116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F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profilo sonoro di ogni decade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51560"/>
            <a:ext cx="8321040" cy="3429000"/>
          </a:xfrm>
          <a:prstGeom prst="roundRect">
            <a:avLst>
              <a:gd name="adj" fmla="val 2133"/>
            </a:avLst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411480" y="2537460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m2_decade_heatmap.png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inserire output notebook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11480" y="4709160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Palette RdBu_r: divergente, colorblind-safe (Ware) · verde → blu = basso, rosso = alto · valori numerici sopra ogni cella (ridondanza percettiva)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C2C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0080"/>
            <a:ext cx="822960" cy="329184"/>
          </a:xfrm>
          <a:prstGeom prst="roundRect">
            <a:avLst>
              <a:gd name="adj" fmla="val 16667"/>
            </a:avLst>
          </a:prstGeom>
          <a:solidFill>
            <a:srgbClr val="BF5200"/>
          </a:solidFill>
          <a:ln w="12700">
            <a:solidFill>
              <a:srgbClr val="BF52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AF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1188720"/>
            <a:ext cx="8138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AFA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generi si comportano tutti allo stesso modo?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02920" y="4480560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Tufte · Small Multiples  ·  Gestalt: Similarità e Prossimità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85800" cy="256032"/>
          </a:xfrm>
          <a:prstGeom prst="roundRect">
            <a:avLst>
              <a:gd name="adj" fmla="val 17857"/>
            </a:avLst>
          </a:prstGeom>
          <a:solidFill>
            <a:srgbClr val="FAEEDA"/>
          </a:solidFill>
          <a:ln w="6350">
            <a:solidFill>
              <a:srgbClr val="BF52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0116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F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Classical e Electronic: due traiettorie opposte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51560"/>
            <a:ext cx="8321040" cy="3429000"/>
          </a:xfrm>
          <a:prstGeom prst="roundRect">
            <a:avLst>
              <a:gd name="adj" fmla="val 2133"/>
            </a:avLst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411480" y="2537460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m3_small_multiples_acousticness.png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inserire output notebook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11480" y="4709160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sharey=True: stessa scala per tutti i pannelli → Lie Factor = 0 · generi ordinati per numerosità del campione · etichetta interna al pannello (Tufte)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85800" cy="256032"/>
          </a:xfrm>
          <a:prstGeom prst="roundRect">
            <a:avLst>
              <a:gd name="adj" fmla="val 17857"/>
            </a:avLst>
          </a:prstGeom>
          <a:solidFill>
            <a:srgbClr val="FAEEDA"/>
          </a:solidFill>
          <a:ln w="6350">
            <a:solidFill>
              <a:srgbClr val="BF52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0116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F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pannelli, zero effetto spaghetti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51560"/>
            <a:ext cx="8321040" cy="3429000"/>
          </a:xfrm>
          <a:prstGeom prst="roundRect">
            <a:avLst>
              <a:gd name="adj" fmla="val 2133"/>
            </a:avLst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411480" y="2537460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m3_small_multiples_full.png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inserire output notebook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11480" y="4709160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sharey='row': scala condivisa per feature · sharex=True · asse Y ancorato a [0, 1] = range completo delle feature Spotify normalizzate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C2C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0080"/>
            <a:ext cx="822960" cy="329184"/>
          </a:xfrm>
          <a:prstGeom prst="roundRect">
            <a:avLst>
              <a:gd name="adj" fmla="val 16667"/>
            </a:avLst>
          </a:prstGeom>
          <a:solidFill>
            <a:srgbClr val="BF5200"/>
          </a:solidFill>
          <a:ln w="12700">
            <a:solidFill>
              <a:srgbClr val="BF52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AF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1188720"/>
            <a:ext cx="8138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AFA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Esistono archetipi sonori naturali?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02920" y="4480560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· Parallel Coordinates · ColorBrewer Set2 colorblind-safe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85800" cy="256032"/>
          </a:xfrm>
          <a:prstGeom prst="roundRect">
            <a:avLst>
              <a:gd name="adj" fmla="val 17857"/>
            </a:avLst>
          </a:prstGeom>
          <a:solidFill>
            <a:srgbClr val="FAEEDA"/>
          </a:solidFill>
          <a:ln w="6350">
            <a:solidFill>
              <a:srgbClr val="BF52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0116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F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Selezionare il numero di cluster: Elbow + Silhouette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51560"/>
            <a:ext cx="8321040" cy="3429000"/>
          </a:xfrm>
          <a:prstGeom prst="roundRect">
            <a:avLst>
              <a:gd name="adj" fmla="val 2133"/>
            </a:avLst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411480" y="2537460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m4_cluster_diagnostics.png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inserire output notebook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11480" y="4709160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Elbow Method (inertia) + Silhouette Score → k ottimale evidenziato in arancione (pre-attentivo) · nessuna scelta arbitraria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85800" cy="256032"/>
          </a:xfrm>
          <a:prstGeom prst="roundRect">
            <a:avLst>
              <a:gd name="adj" fmla="val 17857"/>
            </a:avLst>
          </a:prstGeom>
          <a:solidFill>
            <a:srgbClr val="FAEEDA"/>
          </a:solidFill>
          <a:ln w="6350">
            <a:solidFill>
              <a:srgbClr val="BF52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0116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F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Gli archetipi sonori: ogni cluster è un profilo unico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51560"/>
            <a:ext cx="8321040" cy="3429000"/>
          </a:xfrm>
          <a:prstGeom prst="roundRect">
            <a:avLst>
              <a:gd name="adj" fmla="val 2133"/>
            </a:avLst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411480" y="2537460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m4_parallel_coordinates.png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inserire output notebook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11480" y="4709160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ColorBrewer Set2: palette qualitativa colorblind-safe · linee sfondo = singoli brani (alpha 0.09) · linee spesse = centroidi cluster · etichettatura diretta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C2C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0080"/>
            <a:ext cx="822960" cy="329184"/>
          </a:xfrm>
          <a:prstGeom prst="roundRect">
            <a:avLst>
              <a:gd name="adj" fmla="val 16667"/>
            </a:avLst>
          </a:prstGeom>
          <a:solidFill>
            <a:srgbClr val="BF5200"/>
          </a:solidFill>
          <a:ln w="12700">
            <a:solidFill>
              <a:srgbClr val="BF52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AF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1188720"/>
            <a:ext cx="8138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AFA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rende un brano una hit?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02920" y="4480560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Soto · Hierarchical Visualization  ·  target: popularity ≥ 60 (~35% dei brani)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85800" cy="256032"/>
          </a:xfrm>
          <a:prstGeom prst="roundRect">
            <a:avLst>
              <a:gd name="adj" fmla="val 17857"/>
            </a:avLst>
          </a:prstGeom>
          <a:solidFill>
            <a:srgbClr val="FAEEDA"/>
          </a:solidFill>
          <a:ln w="6350">
            <a:solidFill>
              <a:srgbClr val="BF52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0116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F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Decision Tree risponde: 4 domande per classificare una hit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51560"/>
            <a:ext cx="8321040" cy="3429000"/>
          </a:xfrm>
          <a:prstGeom prst="roundRect">
            <a:avLst>
              <a:gd name="adj" fmla="val 2133"/>
            </a:avLst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411480" y="2537460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m5_decision_tree.png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inserire output notebook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11480" y="4709160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max_depth=4 · nodi colorati per purezza della classe (arancione=non-hit, blu=hit) · testo ridotto a condizione, gini e samples · legenda scala colore a destra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85800" cy="256032"/>
          </a:xfrm>
          <a:prstGeom prst="roundRect">
            <a:avLst>
              <a:gd name="adj" fmla="val 17857"/>
            </a:avLst>
          </a:prstGeom>
          <a:solidFill>
            <a:srgbClr val="FAEEDA"/>
          </a:solidFill>
          <a:ln w="6350">
            <a:solidFill>
              <a:srgbClr val="BF52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0116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F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Importance · Confronto modelli · Confusion Matrix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51560"/>
          <a:ext cx="3474720" cy="128016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AFA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C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AFA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C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AFA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F1-macro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C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4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4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4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~0.39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4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Tree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B4B2A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notebook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B4B2A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notebook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notebook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notebook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11480" y="2468880"/>
            <a:ext cx="3474720" cy="1097280"/>
          </a:xfrm>
          <a:prstGeom prst="roundRect">
            <a:avLst>
              <a:gd name="adj" fmla="val 6667"/>
            </a:avLst>
          </a:prstGeom>
          <a:solidFill>
            <a:srgbClr val="FAEEDA"/>
          </a:solidFill>
          <a:ln w="6350">
            <a:solidFill>
              <a:srgbClr val="BF52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548640" y="2523744"/>
            <a:ext cx="320040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 dichiarato: DT è meno accurato di RF ma completamente visualizzabile (Soto). L'accuracy di RF è riportata come riferimento quantitativo.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160520" y="1051560"/>
            <a:ext cx="4617720" cy="2560320"/>
          </a:xfrm>
          <a:prstGeom prst="roundRect">
            <a:avLst>
              <a:gd name="adj" fmla="val 2857"/>
            </a:avLst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" name="Text 6"/>
          <p:cNvSpPr/>
          <p:nvPr/>
        </p:nvSpPr>
        <p:spPr>
          <a:xfrm>
            <a:off x="4160520" y="210312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m5_dt_diagnostics.png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inserire output notebook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11480" y="4709160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Importance: arancione = feature sopra il 65° percentile · Confusion Matrix: palette YlOrBr coerente con il progetto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C2C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AFA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domande, tre risposte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143000"/>
            <a:ext cx="502920" cy="502920"/>
          </a:xfrm>
          <a:prstGeom prst="ellipse">
            <a:avLst/>
          </a:prstGeom>
          <a:solidFill>
            <a:srgbClr val="BF5200"/>
          </a:solidFill>
          <a:ln w="12700">
            <a:solidFill>
              <a:srgbClr val="BF52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411480" y="1143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AFA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051560"/>
            <a:ext cx="7635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F5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è cambiato il suono?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435608"/>
            <a:ext cx="7635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3D1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Acousticness −62% in 100 anni. La curva di cambiamento si accelera nel 1954–1972.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2377440"/>
            <a:ext cx="502920" cy="502920"/>
          </a:xfrm>
          <a:prstGeom prst="ellipse">
            <a:avLst/>
          </a:prstGeom>
          <a:solidFill>
            <a:srgbClr val="BF5200"/>
          </a:solidFill>
          <a:ln w="12700">
            <a:solidFill>
              <a:srgbClr val="BF52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41148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AFA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2286000"/>
            <a:ext cx="7635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F5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Esistono archetipi sonori?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2670048"/>
            <a:ext cx="7635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3D1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Sì: k cluster distinti emergono dal K-Means senza etichette di genere. Il profilo Z-score li rende leggibili.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1480" y="3611880"/>
            <a:ext cx="502920" cy="502920"/>
          </a:xfrm>
          <a:prstGeom prst="ellipse">
            <a:avLst/>
          </a:prstGeom>
          <a:solidFill>
            <a:srgbClr val="BF5200"/>
          </a:solidFill>
          <a:ln w="12700">
            <a:solidFill>
              <a:srgbClr val="BF52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411480" y="3611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AFA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3520440"/>
            <a:ext cx="7635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F5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rende un brano una hit?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3904488"/>
            <a:ext cx="7635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3D1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feature [da compilare dopo notebook] compaiono ai primi livelli dell'albero. Popularity ≥ 60 è predittibile con F1-macro = [valore].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Limiti dichiarati &amp; sviluppi futuri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11480" y="1051560"/>
            <a:ext cx="4069080" cy="1554480"/>
          </a:xfrm>
          <a:prstGeom prst="roundRect">
            <a:avLst>
              <a:gd name="adj" fmla="val 4706"/>
            </a:avLst>
          </a:prstGeom>
          <a:solidFill>
            <a:srgbClr val="FCF0F0"/>
          </a:solidFill>
          <a:ln w="6350">
            <a:solidFill>
              <a:srgbClr val="A32D2D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576072" y="117957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3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Interattività (Shneiderman)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6072" y="1527048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Parallel Coordinates Plot statico è un anti-pattern su dati densi. → Plotly con brushing sulle feature per il 30L.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709160" y="1051560"/>
            <a:ext cx="4069080" cy="1554480"/>
          </a:xfrm>
          <a:prstGeom prst="roundRect">
            <a:avLst>
              <a:gd name="adj" fmla="val 4706"/>
            </a:avLst>
          </a:prstGeom>
          <a:solidFill>
            <a:schemeClr val="accent6">
              <a:lumMod val="20000"/>
              <a:lumOff val="80000"/>
            </a:schemeClr>
          </a:solidFill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4873752" y="117957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6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Varianza nascosta (rigore scientifico)</a:t>
            </a:r>
            <a:endParaRPr lang="en-US" sz="12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4873752" y="1527048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media mobile non </a:t>
            </a:r>
            <a:r>
              <a:rPr lang="en-US" sz="1100" dirty="0" err="1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mostrava</a:t>
            </a:r>
            <a:r>
              <a:rPr lang="en-US" sz="110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sz="1100" dirty="0" err="1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dispersione</a:t>
            </a:r>
            <a:r>
              <a:rPr lang="en-US" sz="110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reale</a:t>
            </a:r>
            <a:r>
              <a:rPr lang="en-US" sz="110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dirty="0" err="1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abbiamo</a:t>
            </a:r>
            <a:r>
              <a:rPr lang="en-US" sz="110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utilizzato</a:t>
            </a:r>
            <a:r>
              <a:rPr lang="en-US" sz="110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fill_between per </a:t>
            </a:r>
            <a:r>
              <a:rPr lang="en-US" sz="1100" dirty="0" err="1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l’intervallo</a:t>
            </a:r>
            <a:r>
              <a:rPr lang="en-US" sz="110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confidenza al 95%.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1480" y="2964366"/>
            <a:ext cx="4069080" cy="1554480"/>
          </a:xfrm>
          <a:prstGeom prst="roundRect">
            <a:avLst>
              <a:gd name="adj" fmla="val 4706"/>
            </a:avLst>
          </a:prstGeom>
          <a:solidFill>
            <a:srgbClr val="FAEEDA"/>
          </a:solidFill>
          <a:ln w="6350">
            <a:solidFill>
              <a:srgbClr val="BA7517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576072" y="309981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A75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Generi derivati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76072" y="3447288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colonna 'genre' è un mapping euristico da artists.csv — contiene rumore. → join più sofisticato o classificatore dedicato.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2971800"/>
            <a:ext cx="4069080" cy="1554480"/>
          </a:xfrm>
          <a:prstGeom prst="roundRect">
            <a:avLst>
              <a:gd name="adj" fmla="val 4706"/>
            </a:avLst>
          </a:prstGeom>
          <a:solidFill>
            <a:srgbClr val="FAEEDA"/>
          </a:solidFill>
          <a:ln w="6350">
            <a:solidFill>
              <a:srgbClr val="BA7517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4873752" y="309981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A75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Popolarità ≠ successo storico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73752" y="3447288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'popularity' misura il successo su Spotify OGGI, non al momento della pubblicazione.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C2C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AFA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Riferimenti teorici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960120"/>
            <a:ext cx="8138160" cy="3886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D3D1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Tufte, E. (1983). The Visual Display of Quantitative Information. Graphics Press.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D3D1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Few, S. (2004). Show Me the Numbers. Analytics Press.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D3D1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Ware, C. (2004). Information Visualization: Perception for Design. Morgan Kaufmann.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D3D1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Munzner, T. (2014). Visualization Analysis and Design. A K Peters/CRC Press.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D3D1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Shneiderman, B. (1996). The Eyes Have It: A Task by Data Type Taxonomy. IEEE VL.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D3D1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Brewer, C.A. et al. (2003). ColorBrewer: An Online Tool for Selecting Color Schemes. The Cartographic Journal.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D3D1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Eren Ay, Y. (2021). Spotify Dataset 1921–2020, 600k+ Tracks. Kaggle.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848</TotalTime>
  <Words>2080</Words>
  <Application>Microsoft Macintosh PowerPoint</Application>
  <PresentationFormat>Presentazione su schermo (16:9)</PresentationFormat>
  <Paragraphs>185</Paragraphs>
  <Slides>18</Slides>
  <Notes>18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18</vt:i4>
      </vt:variant>
    </vt:vector>
  </HeadingPairs>
  <TitlesOfParts>
    <vt:vector size="24" baseType="lpstr">
      <vt:lpstr>Aptos Display</vt:lpstr>
      <vt:lpstr>Arial</vt:lpstr>
      <vt:lpstr>Calibri</vt:lpstr>
      <vt:lpstr>Cambria</vt:lpstr>
      <vt:lpstr>Wingdings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Shape of Music</dc:title>
  <dc:subject>Spotify Dataset 1921-2020 · Feature Audio Analysis</dc:subject>
  <dc:creator>Corso di Visualizzazione Scientifica</dc:creator>
  <cp:lastModifiedBy>Daniele Intra</cp:lastModifiedBy>
  <cp:revision>6</cp:revision>
  <dcterms:created xsi:type="dcterms:W3CDTF">2026-06-21T14:51:54Z</dcterms:created>
  <dcterms:modified xsi:type="dcterms:W3CDTF">2026-06-23T06:25:33Z</dcterms:modified>
</cp:coreProperties>
</file>